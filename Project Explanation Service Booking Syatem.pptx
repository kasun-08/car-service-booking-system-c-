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60" r:id="rId6"/>
    <p:sldId id="261" r:id="rId7"/>
    <p:sldId id="262" r:id="rId8"/>
    <p:sldId id="263" r:id="rId9"/>
    <p:sldId id="264" r:id="rId10"/>
    <p:sldId id="272" r:id="rId11"/>
    <p:sldId id="269"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2051" name="Rectangle 3"/>
          <p:cNvSpPr>
            <a:spLocks noGrp="1" noChangeArrowheads="1"/>
          </p:cNvSpPr>
          <p:nvPr>
            <p:ph type="ctrTitle"/>
          </p:nvPr>
        </p:nvSpPr>
        <p:spPr>
          <a:xfrm>
            <a:off x="2063751" y="1701800"/>
            <a:ext cx="9211733" cy="1082675"/>
          </a:xfrm>
        </p:spPr>
        <p:txBody>
          <a:bodyPr/>
          <a:lstStyle>
            <a:lvl1pPr algn="r">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2063751" y="2927350"/>
            <a:ext cx="9218083" cy="1752600"/>
          </a:xfrm>
        </p:spPr>
        <p:txBody>
          <a:bodyPr/>
          <a:lstStyle>
            <a:lvl1pPr marL="0" indent="0" algn="r">
              <a:buFontTx/>
              <a:buNone/>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3"/>
          <p:cNvPicPr>
            <a:picLocks noChangeAspect="1"/>
          </p:cNvPicPr>
          <p:nvPr/>
        </p:nvPicPr>
        <p:blipFill>
          <a:blip r:embed="rId12"/>
          <a:stretch>
            <a:fillRect/>
          </a:stretch>
        </p:blipFill>
        <p:spPr>
          <a:xfrm>
            <a:off x="-8467" y="0"/>
            <a:ext cx="12200467"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7.png"/><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96795" y="1193165"/>
            <a:ext cx="9002395" cy="1313180"/>
          </a:xfrm>
        </p:spPr>
        <p:txBody>
          <a:bodyPr/>
          <a:lstStyle/>
          <a:p>
            <a:pPr algn="ctr"/>
            <a:r>
              <a:rPr lang="en-US" sz="7200" dirty="0"/>
              <a:t>Project Explanation</a:t>
            </a:r>
            <a:endParaRPr lang="en-US" sz="7200" dirty="0"/>
          </a:p>
        </p:txBody>
      </p:sp>
      <p:sp>
        <p:nvSpPr>
          <p:cNvPr id="3" name="Subtitle 2"/>
          <p:cNvSpPr>
            <a:spLocks noGrp="1"/>
          </p:cNvSpPr>
          <p:nvPr>
            <p:ph type="subTitle" idx="1"/>
          </p:nvPr>
        </p:nvSpPr>
        <p:spPr>
          <a:xfrm>
            <a:off x="4366895" y="3551555"/>
            <a:ext cx="7677785" cy="1023620"/>
          </a:xfrm>
        </p:spPr>
        <p:txBody>
          <a:bodyPr/>
          <a:lstStyle/>
          <a:p>
            <a:r>
              <a:rPr lang="en-US" sz="4400"/>
              <a:t>Car Service Booking System</a:t>
            </a:r>
            <a:endParaRPr lang="en-US" sz="4400"/>
          </a:p>
        </p:txBody>
      </p:sp>
      <p:sp>
        <p:nvSpPr>
          <p:cNvPr id="6" name="Text Box 5"/>
          <p:cNvSpPr txBox="1"/>
          <p:nvPr/>
        </p:nvSpPr>
        <p:spPr>
          <a:xfrm>
            <a:off x="8366760" y="5482590"/>
            <a:ext cx="3370580" cy="645160"/>
          </a:xfrm>
          <a:prstGeom prst="rect">
            <a:avLst/>
          </a:prstGeom>
          <a:noFill/>
        </p:spPr>
        <p:txBody>
          <a:bodyPr wrap="none" rtlCol="0">
            <a:spAutoFit/>
          </a:bodyPr>
          <a:p>
            <a:r>
              <a:rPr lang="en-US"/>
              <a:t>Kanakarathne Kasun Madhawa</a:t>
            </a:r>
            <a:endParaRPr lang="en-US"/>
          </a:p>
          <a:p>
            <a:r>
              <a:rPr lang="en-US"/>
              <a:t>M24W0633</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Overview</a:t>
            </a:r>
            <a:endParaRPr lang="en-US"/>
          </a:p>
        </p:txBody>
      </p:sp>
      <p:sp>
        <p:nvSpPr>
          <p:cNvPr id="3" name="Content Placeholder 2"/>
          <p:cNvSpPr>
            <a:spLocks noGrp="1"/>
          </p:cNvSpPr>
          <p:nvPr>
            <p:ph idx="1"/>
          </p:nvPr>
        </p:nvSpPr>
        <p:spPr/>
        <p:txBody>
          <a:bodyPr/>
          <a:p>
            <a:pPr marL="0" indent="0">
              <a:buNone/>
            </a:pPr>
            <a:r>
              <a:rPr lang="en-US" sz="2800"/>
              <a:t>The Car Service Booking System is an application designed to manage the process of booking car services of car service chain company. It provides functionalities for both customers and staff to interact with the system, allowing customers to create profiles, book services, view and cancel bookings, and update their information. Staff members, on the other hand, have access to additional features like viewing all bookings and exporting booking data. The system is built using C++ and object-oriented programming (OOP) principles.</a:t>
            </a:r>
            <a:endParaRPr lang="en-US" sz="2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itle 5"/>
          <p:cNvSpPr>
            <a:spLocks noGrp="1"/>
          </p:cNvSpPr>
          <p:nvPr>
            <p:ph type="title"/>
          </p:nvPr>
        </p:nvSpPr>
        <p:spPr/>
        <p:txBody>
          <a:bodyPr/>
          <a:p>
            <a:r>
              <a:rPr lang="en-US"/>
              <a:t>Users</a:t>
            </a:r>
            <a:endParaRPr lang="en-US"/>
          </a:p>
        </p:txBody>
      </p:sp>
      <p:pic>
        <p:nvPicPr>
          <p:cNvPr id="100" name="Picture 99"/>
          <p:cNvPicPr/>
          <p:nvPr/>
        </p:nvPicPr>
        <p:blipFill>
          <a:blip r:embed="rId1"/>
          <a:stretch>
            <a:fillRect/>
          </a:stretch>
        </p:blipFill>
        <p:spPr>
          <a:xfrm>
            <a:off x="3761105" y="548640"/>
            <a:ext cx="3665220" cy="1914525"/>
          </a:xfrm>
          <a:prstGeom prst="rect">
            <a:avLst/>
          </a:prstGeom>
          <a:noFill/>
          <a:ln w="9525">
            <a:noFill/>
          </a:ln>
        </p:spPr>
      </p:pic>
      <p:sp>
        <p:nvSpPr>
          <p:cNvPr id="10" name="Text Box 9"/>
          <p:cNvSpPr txBox="1"/>
          <p:nvPr/>
        </p:nvSpPr>
        <p:spPr>
          <a:xfrm>
            <a:off x="1736090" y="3061970"/>
            <a:ext cx="648335" cy="368300"/>
          </a:xfrm>
          <a:prstGeom prst="rect">
            <a:avLst/>
          </a:prstGeom>
          <a:noFill/>
        </p:spPr>
        <p:txBody>
          <a:bodyPr wrap="none" rtlCol="0">
            <a:spAutoFit/>
          </a:bodyPr>
          <a:p>
            <a:r>
              <a:rPr lang="en-US"/>
              <a:t>Staff</a:t>
            </a:r>
            <a:endParaRPr lang="en-US"/>
          </a:p>
        </p:txBody>
      </p:sp>
      <p:sp>
        <p:nvSpPr>
          <p:cNvPr id="11" name="Text Box 10"/>
          <p:cNvSpPr txBox="1"/>
          <p:nvPr/>
        </p:nvSpPr>
        <p:spPr>
          <a:xfrm>
            <a:off x="7811770" y="3132455"/>
            <a:ext cx="1173480" cy="368300"/>
          </a:xfrm>
          <a:prstGeom prst="rect">
            <a:avLst/>
          </a:prstGeom>
          <a:noFill/>
        </p:spPr>
        <p:txBody>
          <a:bodyPr wrap="none" rtlCol="0">
            <a:spAutoFit/>
          </a:bodyPr>
          <a:p>
            <a:r>
              <a:rPr lang="en-US"/>
              <a:t>Customer</a:t>
            </a:r>
            <a:endParaRPr lang="en-US"/>
          </a:p>
        </p:txBody>
      </p:sp>
      <p:pic>
        <p:nvPicPr>
          <p:cNvPr id="9" name="Content Placeholder 8"/>
          <p:cNvPicPr>
            <a:picLocks noChangeAspect="1"/>
          </p:cNvPicPr>
          <p:nvPr>
            <p:ph sz="half" idx="1"/>
          </p:nvPr>
        </p:nvPicPr>
        <p:blipFill>
          <a:blip r:embed="rId2"/>
          <a:stretch>
            <a:fillRect/>
          </a:stretch>
        </p:blipFill>
        <p:spPr>
          <a:xfrm>
            <a:off x="979170" y="3727450"/>
            <a:ext cx="3837940" cy="2151380"/>
          </a:xfrm>
          <a:prstGeom prst="rect">
            <a:avLst/>
          </a:prstGeom>
        </p:spPr>
      </p:pic>
      <p:pic>
        <p:nvPicPr>
          <p:cNvPr id="13" name="Content Placeholder 12"/>
          <p:cNvPicPr>
            <a:picLocks noChangeAspect="1"/>
          </p:cNvPicPr>
          <p:nvPr>
            <p:ph sz="half" idx="2"/>
          </p:nvPr>
        </p:nvPicPr>
        <p:blipFill>
          <a:blip r:embed="rId3"/>
          <a:stretch>
            <a:fillRect/>
          </a:stretch>
        </p:blipFill>
        <p:spPr>
          <a:xfrm>
            <a:off x="7222490" y="3706495"/>
            <a:ext cx="3985260" cy="217297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System Features</a:t>
            </a:r>
            <a:endParaRPr lang="en-US"/>
          </a:p>
        </p:txBody>
      </p:sp>
      <p:sp>
        <p:nvSpPr>
          <p:cNvPr id="3" name="Content Placeholder 2"/>
          <p:cNvSpPr>
            <a:spLocks noGrp="1"/>
          </p:cNvSpPr>
          <p:nvPr>
            <p:ph sz="half" idx="1"/>
          </p:nvPr>
        </p:nvSpPr>
        <p:spPr/>
        <p:txBody>
          <a:bodyPr/>
          <a:p>
            <a:pPr marL="0" indent="0">
              <a:buNone/>
            </a:pPr>
            <a:r>
              <a:rPr lang="en-US" sz="1800"/>
              <a:t>Features for Staff:</a:t>
            </a:r>
            <a:endParaRPr lang="en-US" sz="1800"/>
          </a:p>
          <a:p>
            <a:r>
              <a:rPr lang="en-US" sz="1800"/>
              <a:t>Staff Login: Staff members must log in using valid credentials before accessing staff functions.</a:t>
            </a:r>
            <a:endParaRPr lang="en-US" sz="1800"/>
          </a:p>
          <a:p>
            <a:r>
              <a:rPr lang="en-US" sz="1800">
                <a:sym typeface="+mn-ea"/>
              </a:rPr>
              <a:t>   Profile Creation and Editing: staff can create, and edit profiles.</a:t>
            </a:r>
            <a:endParaRPr lang="en-US" sz="1800"/>
          </a:p>
          <a:p>
            <a:r>
              <a:rPr lang="en-US" sz="1800"/>
              <a:t>   View Bookings: Staff can view all bookings for a specific branch on a specific date, helping them manage customer appointments and available resources.</a:t>
            </a:r>
            <a:endParaRPr lang="en-US" sz="1800"/>
          </a:p>
          <a:p>
            <a:r>
              <a:rPr lang="en-US" sz="1800"/>
              <a:t> Export Bookings: All booking information can be exported into a text file for record-keeping or further analysis.</a:t>
            </a:r>
            <a:endParaRPr lang="en-US" sz="1800"/>
          </a:p>
        </p:txBody>
      </p:sp>
      <p:pic>
        <p:nvPicPr>
          <p:cNvPr id="4" name="Picture 3"/>
          <p:cNvPicPr>
            <a:picLocks noChangeAspect="1"/>
          </p:cNvPicPr>
          <p:nvPr/>
        </p:nvPicPr>
        <p:blipFill>
          <a:blip r:embed="rId1"/>
          <a:stretch>
            <a:fillRect/>
          </a:stretch>
        </p:blipFill>
        <p:spPr>
          <a:xfrm>
            <a:off x="6617970" y="610870"/>
            <a:ext cx="2141220" cy="563880"/>
          </a:xfrm>
          <a:prstGeom prst="rect">
            <a:avLst/>
          </a:prstGeom>
        </p:spPr>
      </p:pic>
      <p:pic>
        <p:nvPicPr>
          <p:cNvPr id="6" name="Content Placeholder 5"/>
          <p:cNvPicPr>
            <a:picLocks noChangeAspect="1"/>
          </p:cNvPicPr>
          <p:nvPr>
            <p:ph sz="half" idx="2"/>
          </p:nvPr>
        </p:nvPicPr>
        <p:blipFill>
          <a:blip r:embed="rId2"/>
          <a:stretch>
            <a:fillRect/>
          </a:stretch>
        </p:blipFill>
        <p:spPr>
          <a:xfrm>
            <a:off x="7940040" y="1810385"/>
            <a:ext cx="3221990" cy="305244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System Features</a:t>
            </a:r>
            <a:endParaRPr lang="en-US"/>
          </a:p>
        </p:txBody>
      </p:sp>
      <p:sp>
        <p:nvSpPr>
          <p:cNvPr id="5" name="Content Placeholder 3"/>
          <p:cNvSpPr>
            <a:spLocks noGrp="1"/>
          </p:cNvSpPr>
          <p:nvPr/>
        </p:nvSpPr>
        <p:spPr>
          <a:xfrm>
            <a:off x="609600" y="1250315"/>
            <a:ext cx="5384800" cy="4953000"/>
          </a:xfrm>
          <a:prstGeom prst="rect">
            <a:avLst/>
          </a:prstGeom>
          <a:noFill/>
          <a:ln w="9525">
            <a:noFill/>
          </a:ln>
        </p:spPr>
        <p:txBody>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a:t>Features for Customers:</a:t>
            </a:r>
            <a:endParaRPr lang="en-US" sz="1800"/>
          </a:p>
          <a:p>
            <a:r>
              <a:rPr lang="en-US" sz="1800"/>
              <a:t>Profile Creation and Editing: Customers can create and edit their profiles, making it easier for them to manage their information and ensure accurate service bookings.</a:t>
            </a:r>
            <a:endParaRPr lang="en-US" sz="1800"/>
          </a:p>
          <a:p>
            <a:endParaRPr lang="en-US" sz="1800"/>
          </a:p>
          <a:p>
            <a:r>
              <a:rPr lang="en-US" sz="1800"/>
              <a:t>Booking and Cancelling Services: Customers can book services by selecting a time in between 9:00-14:00 time period. They can also cancel bookings when necessary.</a:t>
            </a:r>
            <a:endParaRPr lang="en-US" sz="1800"/>
          </a:p>
          <a:p>
            <a:endParaRPr lang="en-US" sz="1800"/>
          </a:p>
          <a:p>
            <a:r>
              <a:rPr lang="en-US" sz="1800"/>
              <a:t>View Bookings: Customers can view a list of their service appointments.</a:t>
            </a:r>
            <a:endParaRPr lang="en-US" sz="1800"/>
          </a:p>
        </p:txBody>
      </p:sp>
      <p:pic>
        <p:nvPicPr>
          <p:cNvPr id="6" name="Picture 5"/>
          <p:cNvPicPr>
            <a:picLocks noChangeAspect="1"/>
          </p:cNvPicPr>
          <p:nvPr/>
        </p:nvPicPr>
        <p:blipFill>
          <a:blip r:embed="rId1"/>
          <a:stretch>
            <a:fillRect/>
          </a:stretch>
        </p:blipFill>
        <p:spPr>
          <a:xfrm>
            <a:off x="6933565" y="372745"/>
            <a:ext cx="3204845" cy="2687320"/>
          </a:xfrm>
          <a:prstGeom prst="rect">
            <a:avLst/>
          </a:prstGeom>
        </p:spPr>
      </p:pic>
      <p:pic>
        <p:nvPicPr>
          <p:cNvPr id="10" name="Content Placeholder 9"/>
          <p:cNvPicPr>
            <a:picLocks noChangeAspect="1"/>
          </p:cNvPicPr>
          <p:nvPr>
            <p:ph sz="half" idx="1"/>
          </p:nvPr>
        </p:nvPicPr>
        <p:blipFill>
          <a:blip r:embed="rId2"/>
          <a:stretch>
            <a:fillRect/>
          </a:stretch>
        </p:blipFill>
        <p:spPr>
          <a:xfrm>
            <a:off x="7795260" y="3529330"/>
            <a:ext cx="2735580" cy="1256665"/>
          </a:xfrm>
          <a:prstGeom prst="rect">
            <a:avLst/>
          </a:prstGeom>
        </p:spPr>
      </p:pic>
      <p:pic>
        <p:nvPicPr>
          <p:cNvPr id="13" name="Content Placeholder 12"/>
          <p:cNvPicPr>
            <a:picLocks noChangeAspect="1"/>
          </p:cNvPicPr>
          <p:nvPr>
            <p:ph sz="half" idx="2"/>
          </p:nvPr>
        </p:nvPicPr>
        <p:blipFill>
          <a:blip r:embed="rId3"/>
          <a:stretch>
            <a:fillRect/>
          </a:stretch>
        </p:blipFill>
        <p:spPr>
          <a:xfrm>
            <a:off x="5994400" y="5688330"/>
            <a:ext cx="5629910" cy="444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OOP approch in the system</a:t>
            </a:r>
            <a:endParaRPr lang="en-US"/>
          </a:p>
        </p:txBody>
      </p:sp>
      <p:sp>
        <p:nvSpPr>
          <p:cNvPr id="3" name="Content Placeholder 2"/>
          <p:cNvSpPr>
            <a:spLocks noGrp="1"/>
          </p:cNvSpPr>
          <p:nvPr>
            <p:ph sz="half" idx="1"/>
          </p:nvPr>
        </p:nvSpPr>
        <p:spPr>
          <a:xfrm>
            <a:off x="609600" y="1301115"/>
            <a:ext cx="5384800" cy="4826635"/>
          </a:xfrm>
        </p:spPr>
        <p:txBody>
          <a:bodyPr/>
          <a:p>
            <a:pPr marL="0" indent="0">
              <a:buNone/>
            </a:pPr>
            <a:r>
              <a:rPr lang="en-US" sz="1800"/>
              <a:t>Customer Class</a:t>
            </a:r>
            <a:endParaRPr lang="en-US" sz="1800"/>
          </a:p>
          <a:p>
            <a:pPr marL="0" indent="0">
              <a:buNone/>
            </a:pPr>
            <a:endParaRPr lang="en-US" sz="1500"/>
          </a:p>
          <a:p>
            <a:pPr marL="0" indent="0">
              <a:buNone/>
            </a:pPr>
            <a:r>
              <a:rPr lang="en-US" sz="1500"/>
              <a:t>   The Customer class represents a customer and their vehicle. It has the following attributes:</a:t>
            </a:r>
            <a:endParaRPr lang="en-US" sz="1500"/>
          </a:p>
          <a:p>
            <a:endParaRPr lang="en-US" sz="1500"/>
          </a:p>
          <a:p>
            <a:pPr marL="0" indent="0">
              <a:buNone/>
            </a:pPr>
            <a:r>
              <a:rPr lang="en-US" sz="1500"/>
              <a:t>Private Attributes</a:t>
            </a:r>
            <a:endParaRPr lang="en-US" sz="1500"/>
          </a:p>
          <a:p>
            <a:r>
              <a:rPr lang="en-US" sz="1500"/>
              <a:t>name: Customer's full name</a:t>
            </a:r>
            <a:endParaRPr lang="en-US" sz="1500"/>
          </a:p>
          <a:p>
            <a:r>
              <a:rPr lang="en-US" sz="1500"/>
              <a:t>address: Customer's address</a:t>
            </a:r>
            <a:endParaRPr lang="en-US" sz="1500"/>
          </a:p>
          <a:p>
            <a:r>
              <a:rPr lang="en-US" sz="1500"/>
              <a:t>phoneNumber: Customer's contact number</a:t>
            </a:r>
            <a:endParaRPr lang="en-US" sz="1500"/>
          </a:p>
          <a:p>
            <a:r>
              <a:rPr lang="en-US" sz="1500"/>
              <a:t>vehicleNumber: Unique identifier for the customer's vehicle</a:t>
            </a:r>
            <a:endParaRPr lang="en-US" sz="1500"/>
          </a:p>
          <a:p>
            <a:r>
              <a:rPr lang="en-US" sz="1500"/>
              <a:t>vehicleMake: Brand of the vehicle</a:t>
            </a:r>
            <a:endParaRPr lang="en-US" sz="1500"/>
          </a:p>
          <a:p>
            <a:r>
              <a:rPr lang="en-US" sz="1500"/>
              <a:t>vehicleModel: Model of the vehicle</a:t>
            </a:r>
            <a:endParaRPr lang="en-US" sz="1500"/>
          </a:p>
          <a:p>
            <a:r>
              <a:rPr lang="en-US" sz="1500"/>
              <a:t>vehicleYear: Manufacturing year of the vehicle</a:t>
            </a:r>
            <a:endParaRPr lang="en-US" sz="1500"/>
          </a:p>
          <a:p>
            <a:pPr marL="0" indent="0">
              <a:buNone/>
            </a:pPr>
            <a:endParaRPr lang="en-US" sz="1500"/>
          </a:p>
        </p:txBody>
      </p:sp>
      <p:pic>
        <p:nvPicPr>
          <p:cNvPr id="6" name="Content Placeholder 5"/>
          <p:cNvPicPr>
            <a:picLocks noChangeAspect="1"/>
          </p:cNvPicPr>
          <p:nvPr>
            <p:ph sz="half" idx="2"/>
          </p:nvPr>
        </p:nvPicPr>
        <p:blipFill>
          <a:blip r:embed="rId1"/>
          <a:stretch>
            <a:fillRect/>
          </a:stretch>
        </p:blipFill>
        <p:spPr>
          <a:xfrm>
            <a:off x="6572250" y="773430"/>
            <a:ext cx="5090795" cy="2192020"/>
          </a:xfrm>
          <a:prstGeom prst="rect">
            <a:avLst/>
          </a:prstGeom>
        </p:spPr>
      </p:pic>
      <p:sp>
        <p:nvSpPr>
          <p:cNvPr id="7" name="Text Box 6"/>
          <p:cNvSpPr txBox="1"/>
          <p:nvPr/>
        </p:nvSpPr>
        <p:spPr>
          <a:xfrm>
            <a:off x="5994400" y="3314700"/>
            <a:ext cx="5588000" cy="3192145"/>
          </a:xfrm>
          <a:prstGeom prst="rect">
            <a:avLst/>
          </a:prstGeom>
          <a:noFill/>
        </p:spPr>
        <p:txBody>
          <a:bodyPr wrap="square" rtlCol="0">
            <a:spAutoFit/>
          </a:bodyPr>
          <a:p>
            <a:pPr marL="0" indent="0" algn="l">
              <a:lnSpc>
                <a:spcPct val="120000"/>
              </a:lnSpc>
              <a:buNone/>
            </a:pPr>
            <a:r>
              <a:rPr lang="en-US" sz="1400">
                <a:sym typeface="+mn-ea"/>
              </a:rPr>
              <a:t>Public Methods</a:t>
            </a:r>
            <a:endParaRPr lang="en-US" sz="1400"/>
          </a:p>
          <a:p>
            <a:pPr marL="285750" indent="-285750" algn="l">
              <a:lnSpc>
                <a:spcPct val="120000"/>
              </a:lnSpc>
              <a:buFont typeface="Arial" panose="020B0604020202020204" pitchFamily="34" charset="0"/>
              <a:buChar char="•"/>
            </a:pPr>
            <a:r>
              <a:rPr lang="en-US" sz="1400">
                <a:sym typeface="+mn-ea"/>
              </a:rPr>
              <a:t>Default Constructor: Allows creation of a Customer object without initializing its members</a:t>
            </a:r>
            <a:endParaRPr lang="en-US" sz="1400"/>
          </a:p>
          <a:p>
            <a:pPr marL="285750" indent="-285750" algn="l">
              <a:lnSpc>
                <a:spcPct val="120000"/>
              </a:lnSpc>
              <a:buFont typeface="Arial" panose="020B0604020202020204" pitchFamily="34" charset="0"/>
              <a:buChar char="•"/>
            </a:pPr>
            <a:r>
              <a:rPr lang="en-US" sz="1400">
                <a:sym typeface="+mn-ea"/>
              </a:rPr>
              <a:t>Parameterized Constructor: Initializes all member variables with provided values</a:t>
            </a:r>
            <a:endParaRPr lang="en-US" sz="1400"/>
          </a:p>
          <a:p>
            <a:pPr marL="285750" indent="-285750" algn="l">
              <a:lnSpc>
                <a:spcPct val="120000"/>
              </a:lnSpc>
              <a:buFont typeface="Arial" panose="020B0604020202020204" pitchFamily="34" charset="0"/>
              <a:buChar char="•"/>
            </a:pPr>
            <a:r>
              <a:rPr lang="en-US" sz="1400">
                <a:sym typeface="+mn-ea"/>
              </a:rPr>
              <a:t>getVehicleNumber(): Returns the vehicle number</a:t>
            </a:r>
            <a:endParaRPr lang="en-US" sz="1400"/>
          </a:p>
          <a:p>
            <a:pPr marL="285750" indent="-285750" algn="l">
              <a:lnSpc>
                <a:spcPct val="120000"/>
              </a:lnSpc>
              <a:buFont typeface="Arial" panose="020B0604020202020204" pitchFamily="34" charset="0"/>
              <a:buChar char="•"/>
            </a:pPr>
            <a:r>
              <a:rPr lang="en-US" sz="1400">
                <a:sym typeface="+mn-ea"/>
              </a:rPr>
              <a:t>getName(): Returns the customer's name</a:t>
            </a:r>
            <a:endParaRPr lang="en-US" sz="1400"/>
          </a:p>
          <a:p>
            <a:pPr marL="285750" indent="-285750" algn="l">
              <a:lnSpc>
                <a:spcPct val="120000"/>
              </a:lnSpc>
              <a:buFont typeface="Arial" panose="020B0604020202020204" pitchFamily="34" charset="0"/>
              <a:buChar char="•"/>
            </a:pPr>
            <a:r>
              <a:rPr lang="en-US" sz="1400">
                <a:sym typeface="+mn-ea"/>
              </a:rPr>
              <a:t>editProfile(): Allows modification of customer details (implementation not shown in the provided code)</a:t>
            </a:r>
            <a:endParaRPr lang="en-US" sz="1400"/>
          </a:p>
          <a:p>
            <a:pPr marL="285750" indent="-285750" algn="l">
              <a:lnSpc>
                <a:spcPct val="120000"/>
              </a:lnSpc>
              <a:buFont typeface="Arial" panose="020B0604020202020204" pitchFamily="34" charset="0"/>
              <a:buChar char="•"/>
            </a:pPr>
            <a:r>
              <a:rPr lang="en-US" sz="1400">
                <a:sym typeface="+mn-ea"/>
              </a:rPr>
              <a:t>operator&lt;&lt;: Overloaded stream insertion operator for easy output of Customer objects</a:t>
            </a:r>
            <a:endParaRPr lang="en-US" sz="1400"/>
          </a:p>
          <a:p>
            <a:pPr marL="285750" indent="-285750">
              <a:lnSpc>
                <a:spcPct val="120000"/>
              </a:lnSpc>
              <a:buFont typeface="Arial" panose="020B0604020202020204" pitchFamily="34" charset="0"/>
              <a:buChar char="•"/>
            </a:pPr>
            <a:endParaRPr lang="en-US" sz="1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701040" y="708025"/>
            <a:ext cx="5384800" cy="4953000"/>
          </a:xfrm>
        </p:spPr>
        <p:txBody>
          <a:bodyPr/>
          <a:p>
            <a:pPr marL="0" indent="0">
              <a:buNone/>
            </a:pPr>
            <a:r>
              <a:rPr lang="en-US" sz="1800"/>
              <a:t>Booking Class</a:t>
            </a:r>
            <a:endParaRPr lang="en-US" sz="1800"/>
          </a:p>
          <a:p>
            <a:pPr marL="0" indent="0">
              <a:buNone/>
            </a:pPr>
            <a:endParaRPr lang="en-US" sz="1800"/>
          </a:p>
          <a:p>
            <a:pPr marL="0" indent="0">
              <a:buNone/>
            </a:pPr>
            <a:r>
              <a:rPr lang="en-US" sz="1500"/>
              <a:t>The Booking class represents a service booking made by a customer. It has the following attributes:</a:t>
            </a:r>
            <a:endParaRPr lang="en-US" sz="1500"/>
          </a:p>
          <a:p>
            <a:endParaRPr lang="en-US" sz="1500"/>
          </a:p>
          <a:p>
            <a:pPr marL="0" indent="0">
              <a:buNone/>
            </a:pPr>
            <a:r>
              <a:rPr lang="en-US" sz="1500">
                <a:sym typeface="+mn-ea"/>
              </a:rPr>
              <a:t>Private Attributes</a:t>
            </a:r>
            <a:endParaRPr lang="en-US" sz="1500">
              <a:sym typeface="+mn-ea"/>
            </a:endParaRPr>
          </a:p>
          <a:p>
            <a:r>
              <a:rPr lang="en-US" sz="1500"/>
              <a:t>referenceNumber: A unique string identifier for each booking, generated using the format "REF" followed by a number (e.g., "REF1", "REF2").</a:t>
            </a:r>
            <a:endParaRPr lang="en-US" sz="1500"/>
          </a:p>
          <a:p>
            <a:r>
              <a:rPr lang="en-US" sz="1500"/>
              <a:t>date: Stores the appointment date as a string in "YYYY-MM-DD" format. The system validates this to ensure it's a future date and follows the correct format.</a:t>
            </a:r>
            <a:endParaRPr lang="en-US" sz="1500"/>
          </a:p>
          <a:p>
            <a:r>
              <a:rPr lang="en-US" sz="1500"/>
              <a:t>time: Represents the appointment time slot as a string in "HH:MM" format. It's restricted to between 09:00 and 14:00, with validation to ensure it falls within this range.</a:t>
            </a:r>
            <a:endParaRPr lang="en-US" sz="1500"/>
          </a:p>
          <a:p>
            <a:r>
              <a:rPr lang="en-US" sz="1500"/>
              <a:t>location: A string indicating the service center location. The system offers predefined locations like Tokyo, Osaka, Kyoto, Nara, and Chiba.</a:t>
            </a:r>
            <a:endParaRPr lang="en-US" sz="1500"/>
          </a:p>
          <a:p>
            <a:r>
              <a:rPr lang="en-US" sz="1500"/>
              <a:t>customer: An object of the Customer class, containing all relevant information about the customer making the booking, including their name, contact details, and vehicle information.</a:t>
            </a:r>
            <a:endParaRPr lang="en-US" sz="1500"/>
          </a:p>
        </p:txBody>
      </p:sp>
      <p:pic>
        <p:nvPicPr>
          <p:cNvPr id="4" name="Content Placeholder 3"/>
          <p:cNvPicPr>
            <a:picLocks noChangeAspect="1"/>
          </p:cNvPicPr>
          <p:nvPr>
            <p:ph sz="half" idx="2"/>
          </p:nvPr>
        </p:nvPicPr>
        <p:blipFill>
          <a:blip r:embed="rId1"/>
          <a:stretch>
            <a:fillRect/>
          </a:stretch>
        </p:blipFill>
        <p:spPr>
          <a:xfrm>
            <a:off x="6390005" y="411480"/>
            <a:ext cx="5384800" cy="2461895"/>
          </a:xfrm>
          <a:prstGeom prst="rect">
            <a:avLst/>
          </a:prstGeom>
        </p:spPr>
      </p:pic>
      <p:sp>
        <p:nvSpPr>
          <p:cNvPr id="6" name="Text Box 5"/>
          <p:cNvSpPr txBox="1"/>
          <p:nvPr/>
        </p:nvSpPr>
        <p:spPr>
          <a:xfrm>
            <a:off x="6390005" y="3362325"/>
            <a:ext cx="5384165" cy="2861310"/>
          </a:xfrm>
          <a:prstGeom prst="rect">
            <a:avLst/>
          </a:prstGeom>
          <a:noFill/>
        </p:spPr>
        <p:txBody>
          <a:bodyPr wrap="square" rtlCol="0">
            <a:spAutoFit/>
          </a:bodyPr>
          <a:p>
            <a:pPr algn="l"/>
            <a:r>
              <a:rPr lang="en-US" sz="1500"/>
              <a:t>Public Methods</a:t>
            </a:r>
            <a:endParaRPr lang="en-US" sz="1500"/>
          </a:p>
          <a:p>
            <a:pPr marL="285750" indent="-285750" algn="l">
              <a:buFont typeface="Arial" panose="020B0604020202020204" pitchFamily="34" charset="0"/>
              <a:buChar char="•"/>
            </a:pPr>
            <a:r>
              <a:rPr lang="en-US" sz="1500"/>
              <a:t>Constructor: Initializes all member variables with provided values</a:t>
            </a:r>
            <a:endParaRPr lang="en-US" sz="1500"/>
          </a:p>
          <a:p>
            <a:pPr marL="285750" indent="-285750" algn="l">
              <a:buFont typeface="Arial" panose="020B0604020202020204" pitchFamily="34" charset="0"/>
              <a:buChar char="•"/>
            </a:pPr>
            <a:r>
              <a:rPr lang="en-US" sz="1500"/>
              <a:t>getReferenceNumber(): Returns the booking's reference number</a:t>
            </a:r>
            <a:endParaRPr lang="en-US" sz="1500"/>
          </a:p>
          <a:p>
            <a:pPr marL="285750" indent="-285750" algn="l">
              <a:buFont typeface="Arial" panose="020B0604020202020204" pitchFamily="34" charset="0"/>
              <a:buChar char="•"/>
            </a:pPr>
            <a:r>
              <a:rPr lang="en-US" sz="1500"/>
              <a:t>getDate(): Returns the booking date</a:t>
            </a:r>
            <a:endParaRPr lang="en-US" sz="1500"/>
          </a:p>
          <a:p>
            <a:pPr marL="285750" indent="-285750" algn="l">
              <a:buFont typeface="Arial" panose="020B0604020202020204" pitchFamily="34" charset="0"/>
              <a:buChar char="•"/>
            </a:pPr>
            <a:r>
              <a:rPr lang="en-US" sz="1500"/>
              <a:t>getTime(): Returns the booking time</a:t>
            </a:r>
            <a:endParaRPr lang="en-US" sz="1500"/>
          </a:p>
          <a:p>
            <a:pPr marL="285750" indent="-285750" algn="l">
              <a:buFont typeface="Arial" panose="020B0604020202020204" pitchFamily="34" charset="0"/>
              <a:buChar char="•"/>
            </a:pPr>
            <a:r>
              <a:rPr lang="en-US" sz="1500"/>
              <a:t>getLocation(): Returns the service location</a:t>
            </a:r>
            <a:endParaRPr lang="en-US" sz="1500"/>
          </a:p>
          <a:p>
            <a:pPr marL="285750" indent="-285750" algn="l">
              <a:buFont typeface="Arial" panose="020B0604020202020204" pitchFamily="34" charset="0"/>
              <a:buChar char="•"/>
            </a:pPr>
            <a:r>
              <a:rPr lang="en-US" sz="1500"/>
              <a:t>getCustomer(): Returns the Customer object associated with the booking</a:t>
            </a:r>
            <a:endParaRPr lang="en-US" sz="1500"/>
          </a:p>
          <a:p>
            <a:pPr marL="285750" indent="-285750" algn="l">
              <a:buFont typeface="Arial" panose="020B0604020202020204" pitchFamily="34" charset="0"/>
              <a:buChar char="•"/>
            </a:pPr>
            <a:r>
              <a:rPr lang="en-US" sz="1500"/>
              <a:t>operator&lt;&lt;: A friend function that overloads the stream insertion operator for easy output of Booking objects</a:t>
            </a:r>
            <a:endParaRPr lang="en-US" sz="15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609600" y="2042160"/>
            <a:ext cx="5739765" cy="4085590"/>
          </a:xfrm>
        </p:spPr>
        <p:txBody>
          <a:bodyPr/>
          <a:p>
            <a:pPr marL="0" indent="0">
              <a:buNone/>
            </a:pPr>
            <a:r>
              <a:rPr lang="en-US" sz="1500">
                <a:sym typeface="+mn-ea"/>
              </a:rPr>
              <a:t>Private Attributes</a:t>
            </a:r>
            <a:endParaRPr lang="en-US" sz="1500">
              <a:sym typeface="+mn-ea"/>
            </a:endParaRPr>
          </a:p>
          <a:p>
            <a:r>
              <a:rPr lang="en-US" sz="1500">
                <a:sym typeface="+mn-ea"/>
              </a:rPr>
              <a:t>customers: A vector storing Customer objects</a:t>
            </a:r>
            <a:endParaRPr lang="en-US" sz="1500">
              <a:sym typeface="+mn-ea"/>
            </a:endParaRPr>
          </a:p>
          <a:p>
            <a:r>
              <a:rPr lang="en-US" sz="1500">
                <a:sym typeface="+mn-ea"/>
              </a:rPr>
              <a:t>bookings: A vector storing Booking objects</a:t>
            </a:r>
            <a:endParaRPr lang="en-US" sz="1500">
              <a:sym typeface="+mn-ea"/>
            </a:endParaRPr>
          </a:p>
          <a:p>
            <a:r>
              <a:rPr lang="en-US" sz="1500">
                <a:sym typeface="+mn-ea"/>
              </a:rPr>
              <a:t>locations: A constant vector of available service locations</a:t>
            </a:r>
            <a:endParaRPr lang="en-US" sz="1500">
              <a:sym typeface="+mn-ea"/>
            </a:endParaRPr>
          </a:p>
          <a:p>
            <a:r>
              <a:rPr lang="en-US" sz="1500">
                <a:sym typeface="+mn-ea"/>
              </a:rPr>
              <a:t>staffCredentials: A constant vector of staff username-password pairs for authentication</a:t>
            </a:r>
            <a:endParaRPr lang="en-US" sz="1500">
              <a:sym typeface="+mn-ea"/>
            </a:endParaRPr>
          </a:p>
          <a:p>
            <a:endParaRPr lang="en-US" sz="1500">
              <a:sym typeface="+mn-ea"/>
            </a:endParaRPr>
          </a:p>
          <a:p>
            <a:endParaRPr lang="en-US" sz="1500">
              <a:sym typeface="+mn-ea"/>
            </a:endParaRPr>
          </a:p>
          <a:p>
            <a:pPr>
              <a:buNone/>
            </a:pPr>
            <a:r>
              <a:rPr lang="en-US" sz="1500">
                <a:sym typeface="+mn-ea"/>
              </a:rPr>
              <a:t>Private Methods</a:t>
            </a:r>
            <a:endParaRPr lang="en-US" sz="1500">
              <a:sym typeface="+mn-ea"/>
            </a:endParaRPr>
          </a:p>
          <a:p>
            <a:r>
              <a:rPr lang="en-US" sz="1500">
                <a:sym typeface="+mn-ea"/>
              </a:rPr>
              <a:t>isValidDate: Validates the date format (YYYY-MM-DD) and ensures it's not before 2025</a:t>
            </a:r>
            <a:endParaRPr lang="en-US" sz="1500">
              <a:sym typeface="+mn-ea"/>
            </a:endParaRPr>
          </a:p>
          <a:p>
            <a:r>
              <a:rPr lang="en-US" sz="1500">
                <a:sym typeface="+mn-ea"/>
              </a:rPr>
              <a:t>isValidTime: Checks if the given time is within the 09:00-14:00 range</a:t>
            </a:r>
            <a:endParaRPr lang="en-US" sz="1500">
              <a:sym typeface="+mn-ea"/>
            </a:endParaRPr>
          </a:p>
          <a:p>
            <a:pPr>
              <a:buNone/>
            </a:pPr>
            <a:endParaRPr lang="en-US" sz="1500">
              <a:sym typeface="+mn-ea"/>
            </a:endParaRPr>
          </a:p>
        </p:txBody>
      </p:sp>
      <p:sp>
        <p:nvSpPr>
          <p:cNvPr id="2" name="Text Box 1"/>
          <p:cNvSpPr txBox="1"/>
          <p:nvPr/>
        </p:nvSpPr>
        <p:spPr>
          <a:xfrm>
            <a:off x="1560830" y="492760"/>
            <a:ext cx="2354580" cy="368300"/>
          </a:xfrm>
          <a:prstGeom prst="rect">
            <a:avLst/>
          </a:prstGeom>
          <a:noFill/>
        </p:spPr>
        <p:txBody>
          <a:bodyPr wrap="none" rtlCol="0">
            <a:spAutoFit/>
          </a:bodyPr>
          <a:p>
            <a:pPr algn="l"/>
            <a:r>
              <a:rPr lang="en-US"/>
              <a:t>BookingSystem class</a:t>
            </a:r>
            <a:endParaRPr lang="en-US"/>
          </a:p>
        </p:txBody>
      </p:sp>
      <p:sp>
        <p:nvSpPr>
          <p:cNvPr id="4" name="Text Box 3"/>
          <p:cNvSpPr txBox="1"/>
          <p:nvPr/>
        </p:nvSpPr>
        <p:spPr>
          <a:xfrm>
            <a:off x="6845300" y="2125980"/>
            <a:ext cx="4830445" cy="4477385"/>
          </a:xfrm>
          <a:prstGeom prst="rect">
            <a:avLst/>
          </a:prstGeom>
          <a:noFill/>
        </p:spPr>
        <p:txBody>
          <a:bodyPr wrap="square" rtlCol="0">
            <a:spAutoFit/>
          </a:bodyPr>
          <a:p>
            <a:pPr algn="l"/>
            <a:r>
              <a:rPr lang="en-US" sz="1500">
                <a:sym typeface="+mn-ea"/>
              </a:rPr>
              <a:t>Public Methods</a:t>
            </a:r>
            <a:endParaRPr lang="en-US" sz="1500">
              <a:sym typeface="+mn-ea"/>
            </a:endParaRPr>
          </a:p>
          <a:p>
            <a:pPr marL="285750" indent="-285750" algn="l">
              <a:buFont typeface="Arial" panose="020B0604020202020204" pitchFamily="34" charset="0"/>
              <a:buChar char="•"/>
            </a:pPr>
            <a:r>
              <a:rPr lang="en-US" sz="1500">
                <a:sym typeface="+mn-ea"/>
              </a:rPr>
              <a:t>isValidPhoneNumber: Validates 10-digit phone numbers</a:t>
            </a:r>
            <a:endParaRPr lang="en-US" sz="1500">
              <a:sym typeface="+mn-ea"/>
            </a:endParaRPr>
          </a:p>
          <a:p>
            <a:pPr marL="285750" indent="-285750" algn="l">
              <a:buFont typeface="Arial" panose="020B0604020202020204" pitchFamily="34" charset="0"/>
              <a:buChar char="•"/>
            </a:pPr>
            <a:r>
              <a:rPr lang="en-US" sz="1500">
                <a:sym typeface="+mn-ea"/>
              </a:rPr>
              <a:t>authenticateStff: Verifies staff credentials</a:t>
            </a:r>
            <a:endParaRPr lang="en-US" sz="1500">
              <a:sym typeface="+mn-ea"/>
            </a:endParaRPr>
          </a:p>
          <a:p>
            <a:pPr marL="285750" indent="-285750" algn="l">
              <a:buFont typeface="Arial" panose="020B0604020202020204" pitchFamily="34" charset="0"/>
              <a:buChar char="•"/>
            </a:pPr>
            <a:r>
              <a:rPr lang="en-US" sz="1500">
                <a:sym typeface="+mn-ea"/>
              </a:rPr>
              <a:t>createCustomerProfile: Creates a new customer profile</a:t>
            </a:r>
            <a:endParaRPr lang="en-US" sz="1500">
              <a:sym typeface="+mn-ea"/>
            </a:endParaRPr>
          </a:p>
          <a:p>
            <a:pPr marL="285750" indent="-285750" algn="l">
              <a:buFont typeface="Arial" panose="020B0604020202020204" pitchFamily="34" charset="0"/>
              <a:buChar char="•"/>
            </a:pPr>
            <a:r>
              <a:rPr lang="en-US" sz="1500">
                <a:sym typeface="+mn-ea"/>
              </a:rPr>
              <a:t>findCustomerByVehicle: Locates a customer using their vehicle number</a:t>
            </a:r>
            <a:endParaRPr lang="en-US" sz="1500">
              <a:sym typeface="+mn-ea"/>
            </a:endParaRPr>
          </a:p>
          <a:p>
            <a:pPr marL="285750" indent="-285750" algn="l">
              <a:buFont typeface="Arial" panose="020B0604020202020204" pitchFamily="34" charset="0"/>
              <a:buChar char="•"/>
            </a:pPr>
            <a:r>
              <a:rPr lang="en-US" sz="1500">
                <a:sym typeface="+mn-ea"/>
              </a:rPr>
              <a:t>createBooking: Creates a new service booking</a:t>
            </a:r>
            <a:endParaRPr lang="en-US" sz="1500">
              <a:sym typeface="+mn-ea"/>
            </a:endParaRPr>
          </a:p>
          <a:p>
            <a:pPr marL="285750" indent="-285750" algn="l">
              <a:buFont typeface="Arial" panose="020B0604020202020204" pitchFamily="34" charset="0"/>
              <a:buChar char="•"/>
            </a:pPr>
            <a:r>
              <a:rPr lang="en-US" sz="1500">
                <a:sym typeface="+mn-ea"/>
              </a:rPr>
              <a:t>viewBooking: Displays booking details</a:t>
            </a:r>
            <a:endParaRPr lang="en-US" sz="1500">
              <a:sym typeface="+mn-ea"/>
            </a:endParaRPr>
          </a:p>
          <a:p>
            <a:pPr marL="285750" indent="-285750" algn="l">
              <a:buFont typeface="Arial" panose="020B0604020202020204" pitchFamily="34" charset="0"/>
              <a:buChar char="•"/>
            </a:pPr>
            <a:r>
              <a:rPr lang="en-US" sz="1500">
                <a:sym typeface="+mn-ea"/>
              </a:rPr>
              <a:t>cancelBooking: Removes an existing booking</a:t>
            </a:r>
            <a:endParaRPr lang="en-US" sz="1500">
              <a:sym typeface="+mn-ea"/>
            </a:endParaRPr>
          </a:p>
          <a:p>
            <a:pPr marL="285750" indent="-285750" algn="l">
              <a:buFont typeface="Arial" panose="020B0604020202020204" pitchFamily="34" charset="0"/>
              <a:buChar char="•"/>
            </a:pPr>
            <a:r>
              <a:rPr lang="en-US" sz="1500">
                <a:sym typeface="+mn-ea"/>
              </a:rPr>
              <a:t>staffViewBookingsByDate: Allows staff to view bookings for a specific date and location</a:t>
            </a:r>
            <a:endParaRPr lang="en-US" sz="1500">
              <a:sym typeface="+mn-ea"/>
            </a:endParaRPr>
          </a:p>
          <a:p>
            <a:pPr marL="285750" indent="-285750" algn="l">
              <a:buFont typeface="Arial" panose="020B0604020202020204" pitchFamily="34" charset="0"/>
              <a:buChar char="•"/>
            </a:pPr>
            <a:r>
              <a:rPr lang="en-US" sz="1500">
                <a:sym typeface="+mn-ea"/>
              </a:rPr>
              <a:t>exportBookingsToFile: Saves all bookings to a file</a:t>
            </a:r>
            <a:endParaRPr lang="en-US" sz="1500">
              <a:sym typeface="+mn-ea"/>
            </a:endParaRPr>
          </a:p>
          <a:p>
            <a:pPr marL="285750" indent="-285750" algn="l">
              <a:buFont typeface="Arial" panose="020B0604020202020204" pitchFamily="34" charset="0"/>
              <a:buChar char="•"/>
            </a:pPr>
            <a:r>
              <a:rPr lang="en-US" sz="1500">
                <a:sym typeface="+mn-ea"/>
              </a:rPr>
              <a:t>generateReferenceNumber: Creates a unique reference number for each booking</a:t>
            </a:r>
            <a:endParaRPr lang="en-US" sz="1500">
              <a:sym typeface="+mn-ea"/>
            </a:endParaRPr>
          </a:p>
          <a:p>
            <a:pPr marL="285750" indent="-285750" algn="l">
              <a:buNone/>
            </a:pPr>
            <a:endParaRPr lang="en-US" sz="1500">
              <a:sym typeface="+mn-ea"/>
            </a:endParaRPr>
          </a:p>
          <a:p>
            <a:pPr algn="l"/>
            <a:endParaRPr lang="en-US" sz="1500"/>
          </a:p>
          <a:p>
            <a:endParaRPr lang="en-US" sz="1500"/>
          </a:p>
        </p:txBody>
      </p:sp>
      <p:sp>
        <p:nvSpPr>
          <p:cNvPr id="5" name="Text Box 4"/>
          <p:cNvSpPr txBox="1"/>
          <p:nvPr/>
        </p:nvSpPr>
        <p:spPr>
          <a:xfrm>
            <a:off x="914400" y="1174750"/>
            <a:ext cx="9648190" cy="553085"/>
          </a:xfrm>
          <a:prstGeom prst="rect">
            <a:avLst/>
          </a:prstGeom>
          <a:noFill/>
        </p:spPr>
        <p:txBody>
          <a:bodyPr wrap="square" rtlCol="0">
            <a:spAutoFit/>
          </a:bodyPr>
          <a:p>
            <a:pPr algn="l"/>
            <a:r>
              <a:rPr lang="en-US" sz="1500"/>
              <a:t>This class encapsulates the main functionality of the booking system, providing methods for managing customers, bookings, and staff operations while ensuring data validation and security through authentication.</a:t>
            </a:r>
            <a:endParaRPr lang="en-US" sz="15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190500"/>
            <a:ext cx="10972800" cy="582930"/>
          </a:xfrm>
        </p:spPr>
        <p:txBody>
          <a:bodyPr/>
          <a:p>
            <a:r>
              <a:rPr lang="en-US" sz="2400">
                <a:cs typeface="+mj-lt"/>
              </a:rPr>
              <a:t>UserInterface </a:t>
            </a:r>
            <a:r>
              <a:rPr lang="en-US" sz="2400">
                <a:latin typeface="+mn-lt"/>
                <a:cs typeface="+mn-lt"/>
              </a:rPr>
              <a:t>class</a:t>
            </a:r>
            <a:endParaRPr lang="en-US" sz="2400">
              <a:latin typeface="+mn-lt"/>
              <a:cs typeface="+mn-lt"/>
            </a:endParaRPr>
          </a:p>
        </p:txBody>
      </p:sp>
      <p:sp>
        <p:nvSpPr>
          <p:cNvPr id="3" name="Content Placeholder 2"/>
          <p:cNvSpPr>
            <a:spLocks noGrp="1"/>
          </p:cNvSpPr>
          <p:nvPr>
            <p:ph sz="half" idx="1"/>
          </p:nvPr>
        </p:nvSpPr>
        <p:spPr>
          <a:xfrm>
            <a:off x="609600" y="1174750"/>
            <a:ext cx="9573895" cy="601345"/>
          </a:xfrm>
        </p:spPr>
        <p:txBody>
          <a:bodyPr/>
          <a:p>
            <a:pPr marL="0" indent="0">
              <a:buNone/>
            </a:pPr>
            <a:r>
              <a:rPr lang="en-US" sz="1800"/>
              <a:t>This class acts as a bridge between the user and the BookingSystem, providing separate interfaces for staff and customers while also maintaining a log of staff activities for auditing purposes.</a:t>
            </a:r>
            <a:endParaRPr lang="en-US" sz="1800"/>
          </a:p>
        </p:txBody>
      </p:sp>
      <p:sp>
        <p:nvSpPr>
          <p:cNvPr id="4" name="Content Placeholder 3"/>
          <p:cNvSpPr>
            <a:spLocks noGrp="1"/>
          </p:cNvSpPr>
          <p:nvPr>
            <p:ph sz="half" idx="2"/>
          </p:nvPr>
        </p:nvSpPr>
        <p:spPr>
          <a:xfrm>
            <a:off x="609600" y="2252345"/>
            <a:ext cx="4553585" cy="3959860"/>
          </a:xfrm>
        </p:spPr>
        <p:txBody>
          <a:bodyPr/>
          <a:p>
            <a:pPr marL="0" indent="0">
              <a:buNone/>
            </a:pPr>
            <a:r>
              <a:rPr lang="en-US" sz="1800"/>
              <a:t>Private Members</a:t>
            </a:r>
            <a:endParaRPr lang="en-US" sz="1800"/>
          </a:p>
          <a:p>
            <a:r>
              <a:rPr lang="en-US" sz="1800"/>
              <a:t>bookingSystem: An instance of the BookingSystem class, allowing the interface to interact with the core functionality of the booking system.</a:t>
            </a:r>
            <a:endParaRPr lang="en-US" sz="1800"/>
          </a:p>
          <a:p>
            <a:pPr>
              <a:buNone/>
            </a:pPr>
            <a:r>
              <a:rPr lang="en-US" sz="1800"/>
              <a:t>Private Methods</a:t>
            </a:r>
            <a:endParaRPr lang="en-US" sz="1800"/>
          </a:p>
          <a:p>
            <a:r>
              <a:rPr lang="en-US" sz="1800"/>
              <a:t>logStaffActivity: A method that logs staff actions to a file named "staff_activity.log". It records the timestamp, username, and action performed.</a:t>
            </a:r>
            <a:endParaRPr lang="en-US" sz="1800"/>
          </a:p>
        </p:txBody>
      </p:sp>
      <p:sp>
        <p:nvSpPr>
          <p:cNvPr id="8" name="Content Placeholder 3"/>
          <p:cNvSpPr>
            <a:spLocks noGrp="1"/>
          </p:cNvSpPr>
          <p:nvPr/>
        </p:nvSpPr>
        <p:spPr>
          <a:xfrm>
            <a:off x="6295390" y="2252345"/>
            <a:ext cx="4553585" cy="3959860"/>
          </a:xfrm>
          <a:prstGeom prst="rect">
            <a:avLst/>
          </a:prstGeom>
          <a:noFill/>
          <a:ln w="9525">
            <a:noFill/>
          </a:ln>
        </p:spPr>
        <p:txBody>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a:t>Public Methods</a:t>
            </a:r>
            <a:endParaRPr lang="en-US" sz="1800"/>
          </a:p>
          <a:p>
            <a:r>
              <a:rPr lang="en-US" sz="1800"/>
              <a:t>mainMenu: Displays the main menu of the application.</a:t>
            </a:r>
            <a:endParaRPr lang="en-US" sz="1800"/>
          </a:p>
          <a:p>
            <a:r>
              <a:rPr lang="en-US" sz="1800"/>
              <a:t>staffMenu: Handles the staff-specific menu and operations.</a:t>
            </a:r>
            <a:endParaRPr lang="en-US" sz="1800"/>
          </a:p>
          <a:p>
            <a:r>
              <a:rPr lang="en-US" sz="1800"/>
              <a:t>customerMenu: Manages the customer-specific menu and interactions.</a:t>
            </a:r>
            <a:endParaRPr lang="en-US" sz="18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Potential Implementation in to the system</a:t>
            </a:r>
            <a:endParaRPr lang="en-US"/>
          </a:p>
        </p:txBody>
      </p:sp>
      <p:sp>
        <p:nvSpPr>
          <p:cNvPr id="3" name="Content Placeholder 2"/>
          <p:cNvSpPr>
            <a:spLocks noGrp="1"/>
          </p:cNvSpPr>
          <p:nvPr>
            <p:ph sz="half" idx="1"/>
          </p:nvPr>
        </p:nvSpPr>
        <p:spPr>
          <a:xfrm>
            <a:off x="609600" y="1174750"/>
            <a:ext cx="10101580" cy="4953000"/>
          </a:xfrm>
        </p:spPr>
        <p:txBody>
          <a:bodyPr/>
          <a:p>
            <a:pPr>
              <a:lnSpc>
                <a:spcPct val="170000"/>
              </a:lnSpc>
            </a:pPr>
            <a:r>
              <a:rPr lang="en-US" sz="1800"/>
              <a:t>Enhance the data validation</a:t>
            </a:r>
            <a:endParaRPr lang="en-US" sz="1800"/>
          </a:p>
          <a:p>
            <a:pPr>
              <a:lnSpc>
                <a:spcPct val="170000"/>
              </a:lnSpc>
            </a:pPr>
            <a:r>
              <a:rPr lang="en-US" sz="1800"/>
              <a:t>Code Refactoring for Modularization</a:t>
            </a:r>
            <a:endParaRPr lang="en-US" sz="1800"/>
          </a:p>
          <a:p>
            <a:pPr>
              <a:lnSpc>
                <a:spcPct val="170000"/>
              </a:lnSpc>
            </a:pPr>
            <a:r>
              <a:rPr lang="en-US" sz="1800"/>
              <a:t>Advanced Search and Filter Functionality -   when the number of customers and bookings increases, searching through large lists may become slow.</a:t>
            </a:r>
            <a:endParaRPr lang="en-US" sz="1800"/>
          </a:p>
          <a:p>
            <a:pPr>
              <a:lnSpc>
                <a:spcPct val="170000"/>
              </a:lnSpc>
            </a:pPr>
            <a:r>
              <a:rPr lang="en-US" sz="1800"/>
              <a:t>implement a GUI.</a:t>
            </a:r>
            <a:endParaRPr lang="en-US" sz="1800"/>
          </a:p>
          <a:p>
            <a:pPr>
              <a:lnSpc>
                <a:spcPct val="170000"/>
              </a:lnSpc>
            </a:pPr>
            <a:r>
              <a:rPr lang="en-US" sz="1800"/>
              <a:t>Include customer Feedback Feature.</a:t>
            </a:r>
            <a:endParaRPr lang="en-US" sz="1800"/>
          </a:p>
          <a:p>
            <a:pPr marL="0" indent="0">
              <a:lnSpc>
                <a:spcPct val="170000"/>
              </a:lnSpc>
              <a:buNone/>
            </a:pPr>
            <a:endParaRPr lang="en-US" sz="1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Conclusion</a:t>
            </a:r>
            <a:endParaRPr lang="en-US"/>
          </a:p>
        </p:txBody>
      </p:sp>
      <p:sp>
        <p:nvSpPr>
          <p:cNvPr id="3" name="Content Placeholder 2"/>
          <p:cNvSpPr>
            <a:spLocks noGrp="1"/>
          </p:cNvSpPr>
          <p:nvPr>
            <p:ph sz="half" idx="1"/>
          </p:nvPr>
        </p:nvSpPr>
        <p:spPr>
          <a:xfrm>
            <a:off x="609600" y="1174750"/>
            <a:ext cx="10070465" cy="4953000"/>
          </a:xfrm>
        </p:spPr>
        <p:txBody>
          <a:bodyPr/>
          <a:p>
            <a:pPr marL="0" indent="0">
              <a:buNone/>
            </a:pPr>
            <a:r>
              <a:rPr lang="en-US" sz="2400"/>
              <a:t>The Car Service Booking System is an easy-to-use tool that helps customers and staff manage car service bookings. It offers simple interfaces for both users, making the operation of car service centers run smoothly.</a:t>
            </a:r>
            <a:endParaRPr lang="en-US" sz="2400"/>
          </a:p>
          <a:p>
            <a:pPr marL="0" indent="0">
              <a:buNone/>
            </a:pPr>
            <a:endParaRPr lang="en-US" sz="2400"/>
          </a:p>
          <a:p>
            <a:pPr marL="0" indent="0">
              <a:buNone/>
            </a:pPr>
            <a:r>
              <a:rPr lang="en-US" sz="2400"/>
              <a:t>Program Demonstration.....</a:t>
            </a:r>
            <a:endParaRPr lang="en-US" sz="2400"/>
          </a:p>
        </p:txBody>
      </p:sp>
      <p:sp>
        <p:nvSpPr>
          <p:cNvPr id="5" name="Text Box 4"/>
          <p:cNvSpPr txBox="1"/>
          <p:nvPr/>
        </p:nvSpPr>
        <p:spPr>
          <a:xfrm>
            <a:off x="4977130" y="4438650"/>
            <a:ext cx="2237740" cy="521970"/>
          </a:xfrm>
          <a:prstGeom prst="rect">
            <a:avLst/>
          </a:prstGeom>
          <a:noFill/>
        </p:spPr>
        <p:txBody>
          <a:bodyPr wrap="square" rtlCol="0">
            <a:spAutoFit/>
          </a:bodyPr>
          <a:p>
            <a:r>
              <a:rPr lang="en-US" sz="2800"/>
              <a:t>Thank you !</a:t>
            </a:r>
            <a:endParaRPr lang="en-US" sz="2800"/>
          </a:p>
        </p:txBody>
      </p:sp>
      <p:sp>
        <p:nvSpPr>
          <p:cNvPr id="6" name="Text Box 5"/>
          <p:cNvSpPr txBox="1"/>
          <p:nvPr/>
        </p:nvSpPr>
        <p:spPr>
          <a:xfrm>
            <a:off x="8366760" y="5482590"/>
            <a:ext cx="3370580" cy="645160"/>
          </a:xfrm>
          <a:prstGeom prst="rect">
            <a:avLst/>
          </a:prstGeom>
          <a:noFill/>
        </p:spPr>
        <p:txBody>
          <a:bodyPr wrap="none" rtlCol="0">
            <a:spAutoFit/>
          </a:bodyPr>
          <a:p>
            <a:r>
              <a:rPr lang="en-US"/>
              <a:t>Kanakarathne Kasun Madhawa</a:t>
            </a:r>
            <a:endParaRPr lang="en-US"/>
          </a:p>
          <a:p>
            <a:r>
              <a:rPr lang="en-US"/>
              <a:t>M24W0633</a:t>
            </a:r>
            <a:endParaRPr lang="en-US"/>
          </a:p>
        </p:txBody>
      </p:sp>
    </p:spTree>
  </p:cSld>
  <p:clrMapOvr>
    <a:masterClrMapping/>
  </p:clrMapOvr>
</p:sld>
</file>

<file path=ppt/theme/theme1.xml><?xml version="1.0" encoding="utf-8"?>
<a:theme xmlns:a="http://schemas.openxmlformats.org/drawingml/2006/main" name="Gear Drives">
  <a:themeElements>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fontScheme name="Gear Dri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Gear Dri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Gear Dri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Gear Dri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Gear Dri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Gear Dri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Gear Dri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Gear Dri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Gear Dri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Gear Dri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Gear Dri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Gear Dri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Gear Dri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6286</Words>
  <Application>WPS Presentation</Application>
  <PresentationFormat>Widescreen</PresentationFormat>
  <Paragraphs>144</Paragraphs>
  <Slides>11</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11</vt:i4>
      </vt:variant>
    </vt:vector>
  </HeadingPairs>
  <TitlesOfParts>
    <vt:vector size="18" baseType="lpstr">
      <vt:lpstr>Arial</vt:lpstr>
      <vt:lpstr>SimSun</vt:lpstr>
      <vt:lpstr>Wingdings</vt:lpstr>
      <vt:lpstr>Microsoft YaHei</vt:lpstr>
      <vt:lpstr>Arial Unicode MS</vt:lpstr>
      <vt:lpstr>Calibri</vt:lpstr>
      <vt:lpstr>Gear Drives</vt:lpstr>
      <vt:lpstr>Project Explanation</vt:lpstr>
      <vt:lpstr>Overview</vt:lpstr>
      <vt:lpstr>Users</vt:lpstr>
      <vt:lpstr>System Features</vt:lpstr>
      <vt:lpstr>System Features</vt:lpstr>
      <vt:lpstr>OOP approch in the system</vt:lpstr>
      <vt:lpstr>PowerPoint 演示文稿</vt:lpstr>
      <vt:lpstr>PowerPoint 演示文稿</vt:lpstr>
      <vt:lpstr>UserInterface class</vt:lpstr>
      <vt:lpstr>Potential Implementation in to the system</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Explanation</dc:title>
  <dc:creator>HP</dc:creator>
  <cp:lastModifiedBy>HP</cp:lastModifiedBy>
  <cp:revision>8</cp:revision>
  <dcterms:created xsi:type="dcterms:W3CDTF">2025-01-05T06:43:00Z</dcterms:created>
  <dcterms:modified xsi:type="dcterms:W3CDTF">2025-01-21T04:49:59Z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64C4ACD8B14A41D18F9B13D5891FC542</vt:lpwstr>
  </property>
  <property fmtid="{D5CDD505-2E9C-101B-9397-08002B2CF9AE}" pid="3" name="KSOProductBuildVer">
    <vt:lpwstr>1033-11.2.0.11537</vt:lpwstr>
  </property>
</Properties>
</file>